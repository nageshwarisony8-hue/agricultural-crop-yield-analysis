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59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9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2712567" y="3794760"/>
            <a:ext cx="6766560" cy="133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/>
              <a:t>                               </a:t>
            </a:r>
            <a:r>
              <a:rPr lang="en-US" sz="18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800" b="1">
                <a:latin typeface="Times New Roman" panose="02020603050405020304" charset="0"/>
                <a:cs typeface="Times New Roman" panose="02020603050405020304" charset="0"/>
              </a:rPr>
              <a:t>Agricultural Crop Yield Analysis</a:t>
            </a:r>
            <a:r>
              <a:rPr lang="en-US" sz="1800" b="1">
                <a:latin typeface="Times New Roman" panose="02020603050405020304" charset="0"/>
                <a:cs typeface="Times New Roman" panose="0202060305040502030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800" b="1">
                <a:latin typeface="Times New Roman" panose="02020603050405020304" charset="0"/>
                <a:cs typeface="Times New Roman" panose="02020603050405020304" charset="0"/>
              </a:rPr>
              <a:t>                          </a:t>
            </a:r>
            <a:r>
              <a:rPr sz="1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Production, Yield &amp; Climate Analysis</a:t>
            </a:r>
          </a:p>
          <a:p>
            <a:pPr>
              <a:lnSpc>
                <a:spcPct val="150000"/>
              </a:lnSpc>
            </a:pPr>
            <a:endParaRPr lang="en-US" sz="1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Box 103"/>
          <p:cNvSpPr txBox="1"/>
          <p:nvPr/>
        </p:nvSpPr>
        <p:spPr>
          <a:xfrm>
            <a:off x="685800" y="384048"/>
            <a:ext cx="5303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About Me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13232" y="932688"/>
            <a:ext cx="6858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Individual Project Member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1417320" y="1508760"/>
            <a:ext cx="92811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1828800" y="170992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dirty="0"/>
              <a:t>AUTI NAGESHWARI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920240" y="274320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/>
              <a:t>INDIVIDUAL PROJECT MEMBER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459480" y="3611880"/>
            <a:ext cx="47012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dirty="0">
                <a:latin typeface="+mn-lt"/>
              </a:rPr>
              <a:t>•</a:t>
            </a:r>
            <a:r>
              <a:rPr sz="1800" dirty="0"/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Background: </a:t>
            </a:r>
            <a:r>
              <a:rPr sz="1800" dirty="0" err="1">
                <a:latin typeface="Arial" panose="020B0604020202020204" pitchFamily="34" charset="0"/>
                <a:cs typeface="Arial" panose="020B0604020202020204" pitchFamily="34" charset="0"/>
              </a:rPr>
              <a:t>B.Tech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• Skills: MySQL, Python, EDA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• Aspiring Data Analyst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• Individual project analysis and presentation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109"/>
          <p:cNvSpPr txBox="1"/>
          <p:nvPr/>
        </p:nvSpPr>
        <p:spPr>
          <a:xfrm>
            <a:off x="685800" y="32004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PROJECT FLOW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Agenda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839470" y="1485265"/>
            <a:ext cx="9875520" cy="5077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dirty="0">
                <a:latin typeface="Times New Roman" panose="02020603050405020304" charset="0"/>
                <a:cs typeface="Times New Roman" panose="02020603050405020304" charset="0"/>
              </a:rPr>
              <a:t>•</a:t>
            </a:r>
            <a:r>
              <a:rPr dirty="0"/>
              <a:t> </a:t>
            </a:r>
            <a:r>
              <a:rPr sz="1800" dirty="0">
                <a:latin typeface="Times New Roman" panose="02020603050405020304" charset="0"/>
                <a:cs typeface="Times New Roman" panose="02020603050405020304" charset="0"/>
              </a:rPr>
              <a:t>01  Project Objective</a:t>
            </a:r>
          </a:p>
          <a:p>
            <a:pPr>
              <a:lnSpc>
                <a:spcPct val="200000"/>
              </a:lnSpc>
            </a:pPr>
            <a:r>
              <a:rPr sz="1800" dirty="0">
                <a:latin typeface="Times New Roman" panose="02020603050405020304" charset="0"/>
                <a:cs typeface="Times New Roman" panose="02020603050405020304" charset="0"/>
              </a:rPr>
              <a:t>• 02  Key Analysis Questions / Use Cases</a:t>
            </a:r>
          </a:p>
          <a:p>
            <a:pPr>
              <a:lnSpc>
                <a:spcPct val="200000"/>
              </a:lnSpc>
            </a:pPr>
            <a:r>
              <a:rPr sz="1800" dirty="0">
                <a:latin typeface="Times New Roman" panose="02020603050405020304" charset="0"/>
                <a:cs typeface="Times New Roman" panose="02020603050405020304" charset="0"/>
              </a:rPr>
              <a:t>• 03  Dataset &amp; Excel Approach</a:t>
            </a:r>
          </a:p>
          <a:p>
            <a:pPr>
              <a:lnSpc>
                <a:spcPct val="200000"/>
              </a:lnSpc>
            </a:pPr>
            <a:r>
              <a:rPr sz="1800" dirty="0">
                <a:latin typeface="Times New Roman" panose="02020603050405020304" charset="0"/>
                <a:cs typeface="Times New Roman" panose="02020603050405020304" charset="0"/>
              </a:rPr>
              <a:t>• 04  Production &amp; Yield Analysis</a:t>
            </a:r>
          </a:p>
          <a:p>
            <a:pPr>
              <a:lnSpc>
                <a:spcPct val="200000"/>
              </a:lnSpc>
            </a:pPr>
            <a:r>
              <a:rPr sz="1800" dirty="0">
                <a:latin typeface="Times New Roman" panose="02020603050405020304" charset="0"/>
                <a:cs typeface="Times New Roman" panose="02020603050405020304" charset="0"/>
              </a:rPr>
              <a:t>• 05  Inputs, Districts &amp; Climate Analysis</a:t>
            </a:r>
          </a:p>
          <a:p>
            <a:pPr>
              <a:lnSpc>
                <a:spcPct val="200000"/>
              </a:lnSpc>
            </a:pPr>
            <a:r>
              <a:rPr sz="1800" dirty="0">
                <a:latin typeface="Times New Roman" panose="02020603050405020304" charset="0"/>
                <a:cs typeface="Times New Roman" panose="02020603050405020304" charset="0"/>
              </a:rPr>
              <a:t>• 06  Dashboard &amp; Key Findings</a:t>
            </a:r>
          </a:p>
          <a:p>
            <a:pPr>
              <a:lnSpc>
                <a:spcPct val="200000"/>
              </a:lnSpc>
            </a:pPr>
            <a:r>
              <a:rPr sz="1800" dirty="0">
                <a:latin typeface="Times New Roman" panose="02020603050405020304" charset="0"/>
                <a:cs typeface="Times New Roman" panose="02020603050405020304" charset="0"/>
              </a:rPr>
              <a:t>• 07  Conclusion – Key Findings Overall</a:t>
            </a:r>
          </a:p>
          <a:p>
            <a:pPr>
              <a:lnSpc>
                <a:spcPct val="200000"/>
              </a:lnSpc>
            </a:pPr>
            <a:r>
              <a:rPr sz="1800" dirty="0">
                <a:latin typeface="Times New Roman" panose="02020603050405020304" charset="0"/>
                <a:cs typeface="Times New Roman" panose="02020603050405020304" charset="0"/>
              </a:rPr>
              <a:t>• 08  Experience / Challenges</a:t>
            </a:r>
          </a:p>
          <a:p>
            <a:pPr>
              <a:lnSpc>
                <a:spcPct val="200000"/>
              </a:lnSpc>
            </a:pPr>
            <a:r>
              <a:rPr sz="1800" dirty="0">
                <a:latin typeface="Times New Roman" panose="02020603050405020304" charset="0"/>
                <a:cs typeface="Times New Roman" panose="02020603050405020304" charset="0"/>
              </a:rPr>
              <a:t>• 09  Q&amp;A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5800" y="32004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Objective of the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10058400" cy="3415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t>• </a:t>
            </a: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Identify the strongest production and yield patterns across agricultural categories.</a:t>
            </a:r>
          </a:p>
          <a:p>
            <a:pPr>
              <a:lnSpc>
                <a:spcPct val="200000"/>
              </a:lnSpc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• Compare states, districts, crops and seasons to find high-performing areas.</a:t>
            </a:r>
          </a:p>
          <a:p>
            <a:pPr>
              <a:lnSpc>
                <a:spcPct val="200000"/>
              </a:lnSpc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• Evaluate fertilizer and irrigation categories against average yield.</a:t>
            </a:r>
          </a:p>
          <a:p>
            <a:pPr>
              <a:lnSpc>
                <a:spcPct val="200000"/>
              </a:lnSpc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• Examine rainfall and temperature relationships with yield.</a:t>
            </a:r>
          </a:p>
          <a:p>
            <a:pPr>
              <a:lnSpc>
                <a:spcPct val="200000"/>
              </a:lnSpc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• Track average yield changes over time.</a:t>
            </a:r>
          </a:p>
          <a:p>
            <a:pPr>
              <a:lnSpc>
                <a:spcPct val="200000"/>
              </a:lnSpc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• Convert Excel analysis into clear agricultural planning insights.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5800" y="32004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Key Analysis Questions / Use Cases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" y="1417320"/>
            <a:ext cx="10332720" cy="658368"/>
          </a:xfrm>
          <a:prstGeom prst="roundRect">
            <a:avLst/>
          </a:prstGeom>
          <a:solidFill>
            <a:srgbClr val="F5F7F9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1536192"/>
            <a:ext cx="2057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Production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1508760"/>
            <a:ext cx="7635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Which crop and season generate the most production?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258568"/>
            <a:ext cx="10332720" cy="658368"/>
          </a:xfrm>
          <a:prstGeom prst="roundRect">
            <a:avLst/>
          </a:prstGeom>
          <a:solidFill>
            <a:srgbClr val="F5F7F9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2377440"/>
            <a:ext cx="2057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Yield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350008"/>
            <a:ext cx="7635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Which states, crops and seasons have the highest average yield?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099816"/>
            <a:ext cx="10332720" cy="658368"/>
          </a:xfrm>
          <a:prstGeom prst="roundRect">
            <a:avLst/>
          </a:prstGeom>
          <a:solidFill>
            <a:srgbClr val="F5F7F9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3218688"/>
            <a:ext cx="2057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Inputs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3191256"/>
            <a:ext cx="7635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How do fertilizer and irrigation types differ in yield?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941064"/>
            <a:ext cx="10332720" cy="658368"/>
          </a:xfrm>
          <a:prstGeom prst="roundRect">
            <a:avLst/>
          </a:prstGeom>
          <a:solidFill>
            <a:srgbClr val="F5F7F9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4059936"/>
            <a:ext cx="2057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Districts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4032504"/>
            <a:ext cx="7635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Which districts are high- or low-performing?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782312"/>
            <a:ext cx="10332720" cy="658368"/>
          </a:xfrm>
          <a:prstGeom prst="roundRect">
            <a:avLst/>
          </a:prstGeom>
          <a:solidFill>
            <a:srgbClr val="F5F7F9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" y="4901184"/>
            <a:ext cx="2057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Climate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873752"/>
            <a:ext cx="7635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Do rainfall and temperature show a strong linear relationship with yield?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Dataset Scale &amp; Excel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500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41732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542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Years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2010–2022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41732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3874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Fields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18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83464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" y="295351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Top Production Crop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" y="336499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18,521.37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283464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35424" y="295351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Top Production Season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336499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35,951.48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283464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38744" y="295351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Top State Yield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8744" y="336499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4,265.96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91640" y="4434840"/>
            <a:ext cx="4160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837944" y="4553712"/>
            <a:ext cx="3867911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Measures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37944" y="4965192"/>
            <a:ext cx="3867911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Tonnes / Kg per Ha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37944" y="5422392"/>
            <a:ext cx="3867911" cy="640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Production and yield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4434840"/>
            <a:ext cx="4160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9944" y="4553712"/>
            <a:ext cx="3867911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Workflow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9944" y="4965192"/>
            <a:ext cx="3867911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Raw Data → Cleaning → PivotTables → Dashboard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9944" y="5422392"/>
            <a:ext cx="3867911" cy="640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Excel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5800" y="32004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Production Performance – Real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Top Production Crop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18,521.37 tonnes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2404872"/>
            <a:ext cx="304495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Cotton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4173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542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Top Production Season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35,951.48 tonnes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04495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Rabi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4173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3874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Second-Highest Crop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17,383.85 tonnes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404872"/>
            <a:ext cx="304495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Sugarcane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60320" y="3794760"/>
            <a:ext cx="36576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06624" y="3913632"/>
            <a:ext cx="33649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Third-Highest Crop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06624" y="4325112"/>
            <a:ext cx="336499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17,292.79 tonnes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06624" y="4782312"/>
            <a:ext cx="336499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Pulses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3794760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84264" y="391363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Key Production Insight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84264" y="432511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Cotton + Rabi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84264" y="4782312"/>
            <a:ext cx="30449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Lead the observed production results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5800" y="32004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Yield Performance – Real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Top State Yield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4,265.96 Kg/Ha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2404872"/>
            <a:ext cx="304495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Karnataka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4173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542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Top Crop Yield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4,188.02 Kg/Ha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04495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Pulses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4173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3874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Top Season Yield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1954022"/>
            <a:ext cx="3044952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4,213.04 Kg/Ha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404872"/>
            <a:ext cx="304495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Rabi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60320" y="3794760"/>
            <a:ext cx="36576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06624" y="3913632"/>
            <a:ext cx="33649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Lowest State Yield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06624" y="4325112"/>
            <a:ext cx="336499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3,698.61 Kg/Ha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06624" y="4782312"/>
            <a:ext cx="336499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Punjab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3794760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84264" y="391363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Key Yield Insight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84264" y="432511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Karnataka + Pulses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84264" y="4782312"/>
            <a:ext cx="30449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Lead the observed average-yield results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5800" y="32004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Inputs &amp; Operational Performance – Real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3337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Highest Fertilizer Yield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4,333.3 Kg/Ha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2404872"/>
            <a:ext cx="304495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Compost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417320"/>
            <a:ext cx="3337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542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Highest Irrigation Yield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4,089.9 Kg/Ha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04495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Canal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417320"/>
            <a:ext cx="3337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3874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Second Fertilizer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4,132.4 Kg/Ha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404872"/>
            <a:ext cx="304495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DAP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60320" y="3657600"/>
            <a:ext cx="3657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06624" y="3776472"/>
            <a:ext cx="33649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Second Irrigation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06624" y="4187952"/>
            <a:ext cx="336499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4,087.1 Kg/Ha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06624" y="4645152"/>
            <a:ext cx="3364992" cy="521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Borewell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365760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84264" y="377647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Key Operational Insight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84264" y="418795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Compost + Canal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84264" y="4645152"/>
            <a:ext cx="3044952" cy="521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Show the highest observed category averages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5800" y="32004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District Variation &amp; Climate – Real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Highest District Yield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5,019.74 Kg/Ha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2404872"/>
            <a:ext cx="304495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Bangalore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4173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542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Lowest District Yield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3,246.39 Kg/Ha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04495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Hisar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4173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3874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Rainfall ↔ Yield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-0.006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404872"/>
            <a:ext cx="304495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Pearson correlation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3794760"/>
            <a:ext cx="3749039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889504" y="3913632"/>
            <a:ext cx="345643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Temperature ↔ Yield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9504" y="4325112"/>
            <a:ext cx="3456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-0.020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9504" y="4782312"/>
            <a:ext cx="345643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Pearson correlation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12280" y="3794760"/>
            <a:ext cx="28346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58584" y="3913632"/>
            <a:ext cx="254203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C41E23"/>
                </a:solidFill>
                <a:latin typeface="Arial" panose="020B0604020202020204"/>
              </a:defRPr>
            </a:pPr>
            <a:r>
              <a:t>High Service Request Stays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58584" y="4325112"/>
            <a:ext cx="25420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F6FA8"/>
                </a:solidFill>
                <a:latin typeface="Arial" panose="020B0604020202020204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58584" y="4782312"/>
            <a:ext cx="254203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46A70"/>
                </a:solidFill>
                <a:latin typeface="Arial" panose="020B0604020202020204"/>
              </a:defRPr>
            </a:pPr>
            <a:r>
              <a:t>Requests ≥ 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5800" y="32004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Average Yield Trend – Real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Peak Month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6,975.8 Kg/Ha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2404872"/>
            <a:ext cx="3044952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2014-07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41732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542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Lowest 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1,026.7 Kg/Ha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044952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2021-10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41732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3874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Observed Period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2010–2022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404872"/>
            <a:ext cx="3044952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500 records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57400" y="3657600"/>
            <a:ext cx="8092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331720" y="3886200"/>
            <a:ext cx="374903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Trend Insight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3822191"/>
            <a:ext cx="3794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Variation over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4370832"/>
            <a:ext cx="3794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Monthly averages fluctuate considerably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5800" y="32004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Dashboard – Decision-Ready 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9470" y="1341120"/>
            <a:ext cx="10149840" cy="3415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t>•</a:t>
            </a: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 Top State Production: Bihar — 16,357.74 tonnes.</a:t>
            </a:r>
          </a:p>
          <a:p>
            <a:pPr>
              <a:lnSpc>
                <a:spcPct val="200000"/>
              </a:lnSpc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• Top State Yield: Karnataka — 4,265.96 Kg/Ha.</a:t>
            </a:r>
          </a:p>
          <a:p>
            <a:pPr>
              <a:lnSpc>
                <a:spcPct val="200000"/>
              </a:lnSpc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• Top Crop Yield: Pulses — 4,188.02 Kg/Ha.</a:t>
            </a:r>
          </a:p>
          <a:p>
            <a:pPr>
              <a:lnSpc>
                <a:spcPct val="200000"/>
              </a:lnSpc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• Top Season Yield: Rabi — 4,213.04 Kg/Ha.</a:t>
            </a:r>
          </a:p>
          <a:p>
            <a:pPr>
              <a:lnSpc>
                <a:spcPct val="200000"/>
              </a:lnSpc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• Dashboard combines production, yield, inputs, climate and trend views.</a:t>
            </a:r>
          </a:p>
          <a:p>
            <a:pPr>
              <a:lnSpc>
                <a:spcPct val="200000"/>
              </a:lnSpc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• Raw data → analysis → insight → action.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5800" y="32004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Conclusion – Key Findings Overall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10058400" cy="3969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800" dirty="0">
                <a:latin typeface="Times New Roman" panose="02020603050405020304" charset="0"/>
                <a:cs typeface="Times New Roman" panose="02020603050405020304" charset="0"/>
              </a:rPr>
              <a:t>• </a:t>
            </a:r>
            <a:r>
              <a:rPr sz="1800" dirty="0">
                <a:latin typeface="Times New Roman" panose="02020603050405020304" charset="0"/>
                <a:cs typeface="Times New Roman" panose="02020603050405020304" charset="0"/>
              </a:rPr>
              <a:t>Cotton records the highest observed production at 18,521.37 </a:t>
            </a:r>
            <a:r>
              <a:rPr sz="1800" dirty="0" err="1">
                <a:latin typeface="Times New Roman" panose="02020603050405020304" charset="0"/>
                <a:cs typeface="Times New Roman" panose="02020603050405020304" charset="0"/>
              </a:rPr>
              <a:t>tonnes</a:t>
            </a:r>
            <a:r>
              <a:rPr sz="1800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pPr>
              <a:lnSpc>
                <a:spcPct val="200000"/>
              </a:lnSpc>
            </a:pPr>
            <a:r>
              <a:rPr sz="1800" dirty="0">
                <a:latin typeface="Times New Roman" panose="02020603050405020304" charset="0"/>
                <a:cs typeface="Times New Roman" panose="02020603050405020304" charset="0"/>
              </a:rPr>
              <a:t>• Rabi records the highest observed season production at 35,951.48 </a:t>
            </a:r>
            <a:r>
              <a:rPr sz="1800" dirty="0" err="1">
                <a:latin typeface="Times New Roman" panose="02020603050405020304" charset="0"/>
                <a:cs typeface="Times New Roman" panose="02020603050405020304" charset="0"/>
              </a:rPr>
              <a:t>tonnes</a:t>
            </a:r>
            <a:r>
              <a:rPr sz="1800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pPr>
              <a:lnSpc>
                <a:spcPct val="200000"/>
              </a:lnSpc>
            </a:pPr>
            <a:r>
              <a:rPr sz="1800" dirty="0">
                <a:latin typeface="Times New Roman" panose="02020603050405020304" charset="0"/>
                <a:cs typeface="Times New Roman" panose="02020603050405020304" charset="0"/>
              </a:rPr>
              <a:t>• Karnataka has the highest average state yield at 4,265.96 Kg/Ha.</a:t>
            </a:r>
          </a:p>
          <a:p>
            <a:pPr>
              <a:lnSpc>
                <a:spcPct val="200000"/>
              </a:lnSpc>
            </a:pPr>
            <a:r>
              <a:rPr sz="1800" dirty="0">
                <a:latin typeface="Times New Roman" panose="02020603050405020304" charset="0"/>
                <a:cs typeface="Times New Roman" panose="02020603050405020304" charset="0"/>
              </a:rPr>
              <a:t>• Bangalore has the highest displayed district yield at 5,019.74 Kg/Ha.</a:t>
            </a:r>
          </a:p>
          <a:p>
            <a:pPr>
              <a:lnSpc>
                <a:spcPct val="200000"/>
              </a:lnSpc>
            </a:pPr>
            <a:r>
              <a:rPr sz="1800" dirty="0">
                <a:latin typeface="Times New Roman" panose="02020603050405020304" charset="0"/>
                <a:cs typeface="Times New Roman" panose="02020603050405020304" charset="0"/>
              </a:rPr>
              <a:t>• Compost and Canal show the highest average-yield values among the listed input categories.</a:t>
            </a:r>
          </a:p>
          <a:p>
            <a:pPr>
              <a:lnSpc>
                <a:spcPct val="200000"/>
              </a:lnSpc>
            </a:pPr>
            <a:r>
              <a:rPr sz="1800" dirty="0">
                <a:latin typeface="Times New Roman" panose="02020603050405020304" charset="0"/>
                <a:cs typeface="Times New Roman" panose="02020603050405020304" charset="0"/>
              </a:rPr>
              <a:t>• Rainfall and temperature correlations are close to zero, so climate should be interpreted with crop, season, soil and location context.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5800" y="32004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Experience / Challenges Working on the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12598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9470" y="1625599"/>
            <a:ext cx="9052560" cy="31823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200000"/>
              </a:lnSpc>
            </a:pPr>
            <a:r>
              <a:rPr sz="1800" dirty="0">
                <a:latin typeface="Times New Roman" panose="02020603050405020304" charset="0"/>
                <a:cs typeface="Times New Roman" panose="02020603050405020304" charset="0"/>
              </a:rPr>
              <a:t>•</a:t>
            </a:r>
            <a:r>
              <a:rPr lang="en-IN" sz="18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1800" dirty="0">
                <a:latin typeface="Times New Roman" panose="02020603050405020304" charset="0"/>
                <a:cs typeface="Times New Roman" panose="02020603050405020304" charset="0"/>
              </a:rPr>
              <a:t>Organized raw agricultural data into a consistent analysis structure.</a:t>
            </a:r>
          </a:p>
          <a:p>
            <a:pPr>
              <a:lnSpc>
                <a:spcPct val="200000"/>
              </a:lnSpc>
            </a:pPr>
            <a:r>
              <a:rPr lang="en-IN" sz="1800" dirty="0">
                <a:latin typeface="Times New Roman" panose="02020603050405020304" charset="0"/>
                <a:cs typeface="Times New Roman" panose="02020603050405020304" charset="0"/>
              </a:rPr>
              <a:t>• </a:t>
            </a:r>
            <a:r>
              <a:rPr sz="1800" dirty="0">
                <a:latin typeface="Times New Roman" panose="02020603050405020304" charset="0"/>
                <a:cs typeface="Times New Roman" panose="02020603050405020304" charset="0"/>
              </a:rPr>
              <a:t>Built multiple PivotTables for production and yield summaries.</a:t>
            </a:r>
          </a:p>
          <a:p>
            <a:pPr>
              <a:lnSpc>
                <a:spcPct val="200000"/>
              </a:lnSpc>
            </a:pPr>
            <a:r>
              <a:rPr sz="1800" dirty="0">
                <a:latin typeface="Times New Roman" panose="02020603050405020304" charset="0"/>
                <a:cs typeface="Times New Roman" panose="02020603050405020304" charset="0"/>
              </a:rPr>
              <a:t>• Combined production, yield and climate analysis without overcrowding the dashboard.</a:t>
            </a:r>
          </a:p>
          <a:p>
            <a:pPr>
              <a:lnSpc>
                <a:spcPct val="200000"/>
              </a:lnSpc>
            </a:pPr>
            <a:r>
              <a:rPr sz="1800" dirty="0">
                <a:latin typeface="Times New Roman" panose="02020603050405020304" charset="0"/>
                <a:cs typeface="Times New Roman" panose="02020603050405020304" charset="0"/>
              </a:rPr>
              <a:t>• Selected clear KPIs and visuals for business communication.</a:t>
            </a:r>
          </a:p>
          <a:p>
            <a:pPr>
              <a:lnSpc>
                <a:spcPct val="200000"/>
              </a:lnSpc>
            </a:pPr>
            <a:r>
              <a:rPr sz="1800" dirty="0">
                <a:latin typeface="Times New Roman" panose="02020603050405020304" charset="0"/>
                <a:cs typeface="Times New Roman" panose="02020603050405020304" charset="0"/>
              </a:rPr>
              <a:t>• Learned an end-to-end Excel analytics workflow and how to communicate insights clearly.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Picture 1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087120"/>
            <a:ext cx="10214610" cy="48393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735</Words>
  <Application>Microsoft Office PowerPoint</Application>
  <PresentationFormat>Widescreen</PresentationFormat>
  <Paragraphs>166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Raghu Ram Aduri</dc:creator>
  <cp:lastModifiedBy>Nageshwari Auti</cp:lastModifiedBy>
  <cp:revision>5</cp:revision>
  <dcterms:created xsi:type="dcterms:W3CDTF">2026-08-26T13:12:00Z</dcterms:created>
  <dcterms:modified xsi:type="dcterms:W3CDTF">2026-09-08T13:54:34Z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27B7EC72186548A9B24412B379D8FD83_13</vt:lpwstr>
  </property>
</Properties>
</file>